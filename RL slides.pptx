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2" r:id="rId5"/>
    <p:sldId id="310" r:id="rId6"/>
    <p:sldId id="311" r:id="rId7"/>
    <p:sldId id="312" r:id="rId8"/>
    <p:sldId id="326" r:id="rId9"/>
    <p:sldId id="315" r:id="rId10"/>
    <p:sldId id="317" r:id="rId11"/>
    <p:sldId id="318" r:id="rId12"/>
    <p:sldId id="319" r:id="rId13"/>
    <p:sldId id="320" r:id="rId14"/>
    <p:sldId id="321" r:id="rId15"/>
    <p:sldId id="322" r:id="rId16"/>
    <p:sldId id="316" r:id="rId17"/>
    <p:sldId id="314" r:id="rId18"/>
    <p:sldId id="323" r:id="rId19"/>
    <p:sldId id="324" r:id="rId20"/>
    <p:sldId id="32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8/5/2024</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95775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8/5/2024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7031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8/5/2024</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499058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8/5/2024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9095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8/5/2024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45147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8/5/2024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381700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8/5/2024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969161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8/5/2024</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007531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8/5/2024</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8808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8/5/2024</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164094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3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20000"/>
        </a:lnSpc>
        <a:spcBef>
          <a:spcPts val="900"/>
        </a:spcBef>
        <a:spcAft>
          <a:spcPts val="0"/>
        </a:spcAft>
        <a:buClr>
          <a:schemeClr val="tx1">
            <a:lumMod val="85000"/>
            <a:lumOff val="15000"/>
          </a:schemeClr>
        </a:buClr>
        <a:buFont typeface="Garamond" pitchFamily="18" charset="0"/>
        <a:buChar char="◦"/>
        <a:defRPr sz="14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BA1780-A246-4C7F-9267-727EF2F4E785}"/>
              </a:ext>
              <a:ext uri="{C183D7F6-B498-43B3-948B-1728B52AA6E4}">
                <adec:decorative xmlns:adec="http://schemas.microsoft.com/office/drawing/2017/decorative" val="1"/>
              </a:ext>
            </a:extLst>
          </p:cNvPr>
          <p:cNvPicPr>
            <a:picLocks noChangeAspect="1"/>
          </p:cNvPicPr>
          <p:nvPr/>
        </p:nvPicPr>
        <p:blipFill rotWithShape="1">
          <a:blip r:embed="rId3"/>
          <a:srcRect t="3846"/>
          <a:stretch/>
        </p:blipFill>
        <p:spPr>
          <a:xfrm>
            <a:off x="20" y="10"/>
            <a:ext cx="12191979" cy="6857990"/>
          </a:xfrm>
          <a:prstGeom prst="rect">
            <a:avLst/>
          </a:prstGeom>
        </p:spPr>
      </p:pic>
      <p:sp>
        <p:nvSpPr>
          <p:cNvPr id="19" name="Rectangle 1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329" y="1808532"/>
            <a:ext cx="5452527" cy="3240936"/>
          </a:xfrm>
          <a:prstGeom prst="rect">
            <a:avLst/>
          </a:prstGeom>
          <a:solidFill>
            <a:schemeClr val="bg1">
              <a:lumMod val="75000"/>
              <a:lumOff val="25000"/>
            </a:schemeClr>
          </a:solidFill>
          <a:ln w="6350" cap="sq" cmpd="sng" algn="ctr">
            <a:noFill/>
            <a:prstDash val="solid"/>
            <a:miter lim="800000"/>
          </a:ln>
          <a:effectLst/>
        </p:spPr>
        <p:txBody>
          <a:bodyPr/>
          <a:lstStyle/>
          <a:p>
            <a:endParaRPr lang="en-SG"/>
          </a:p>
        </p:txBody>
      </p:sp>
      <p:sp>
        <p:nvSpPr>
          <p:cNvPr id="21" name="Rectangle 2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272" y="1975104"/>
            <a:ext cx="5120640" cy="2907792"/>
          </a:xfrm>
          <a:prstGeom prst="rect">
            <a:avLst/>
          </a:prstGeom>
          <a:noFill/>
          <a:ln w="6350" cap="sq" cmpd="sng" algn="ctr">
            <a:solidFill>
              <a:schemeClr val="tx1"/>
            </a:solidFill>
            <a:prstDash val="solid"/>
            <a:miter lim="800000"/>
          </a:ln>
          <a:effectLst>
            <a:softEdge rad="0"/>
          </a:effectLst>
        </p:spPr>
        <p:txBody>
          <a:bodyPr/>
          <a:lstStyle/>
          <a:p>
            <a:endParaRPr lang="en-SG"/>
          </a:p>
        </p:txBody>
      </p:sp>
      <p:sp>
        <p:nvSpPr>
          <p:cNvPr id="2" name="Title 1">
            <a:extLst>
              <a:ext uri="{FF2B5EF4-FFF2-40B4-BE49-F238E27FC236}">
                <a16:creationId xmlns:a16="http://schemas.microsoft.com/office/drawing/2014/main" id="{C0D7398C-75E5-4CB0-BA4F-D7D5CF2495D4}"/>
              </a:ext>
            </a:extLst>
          </p:cNvPr>
          <p:cNvSpPr>
            <a:spLocks noGrp="1"/>
          </p:cNvSpPr>
          <p:nvPr>
            <p:ph type="ctrTitle"/>
          </p:nvPr>
        </p:nvSpPr>
        <p:spPr>
          <a:xfrm>
            <a:off x="1276055" y="2350017"/>
            <a:ext cx="4775075" cy="1630906"/>
          </a:xfrm>
        </p:spPr>
        <p:txBody>
          <a:bodyPr>
            <a:normAutofit fontScale="90000"/>
          </a:bodyPr>
          <a:lstStyle/>
          <a:p>
            <a:r>
              <a:rPr lang="en-US" sz="4400" dirty="0">
                <a:solidFill>
                  <a:schemeClr val="tx1"/>
                </a:solidFill>
              </a:rPr>
              <a:t>Reinforcement</a:t>
            </a:r>
            <a:br>
              <a:rPr lang="en-US" sz="4400" dirty="0">
                <a:solidFill>
                  <a:schemeClr val="tx1"/>
                </a:solidFill>
              </a:rPr>
            </a:br>
            <a:r>
              <a:rPr lang="en-US" sz="4400" dirty="0">
                <a:solidFill>
                  <a:schemeClr val="tx1"/>
                </a:solidFill>
              </a:rPr>
              <a:t>learning (RL)</a:t>
            </a:r>
          </a:p>
        </p:txBody>
      </p:sp>
      <p:sp>
        <p:nvSpPr>
          <p:cNvPr id="3" name="Subtitle 2">
            <a:extLst>
              <a:ext uri="{FF2B5EF4-FFF2-40B4-BE49-F238E27FC236}">
                <a16:creationId xmlns:a16="http://schemas.microsoft.com/office/drawing/2014/main" id="{5C5BFB45-FC34-495C-9C68-F9641246C2EE}"/>
              </a:ext>
            </a:extLst>
          </p:cNvPr>
          <p:cNvSpPr>
            <a:spLocks noGrp="1"/>
          </p:cNvSpPr>
          <p:nvPr>
            <p:ph type="subTitle" idx="1"/>
          </p:nvPr>
        </p:nvSpPr>
        <p:spPr>
          <a:xfrm>
            <a:off x="1276055" y="3990546"/>
            <a:ext cx="4775075" cy="559656"/>
          </a:xfrm>
        </p:spPr>
        <p:txBody>
          <a:bodyPr>
            <a:normAutofit fontScale="85000" lnSpcReduction="20000"/>
          </a:bodyPr>
          <a:lstStyle/>
          <a:p>
            <a:r>
              <a:rPr lang="en-US" dirty="0">
                <a:solidFill>
                  <a:schemeClr val="tx1"/>
                </a:solidFill>
              </a:rPr>
              <a:t>Made by CHAN SHUO KAI and IVAN TAY YEUN HENG</a:t>
            </a:r>
          </a:p>
        </p:txBody>
      </p:sp>
    </p:spTree>
    <p:extLst>
      <p:ext uri="{BB962C8B-B14F-4D97-AF65-F5344CB8AC3E}">
        <p14:creationId xmlns:p14="http://schemas.microsoft.com/office/powerpoint/2010/main" val="215208291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D2744-69D8-41EE-FB9D-3592B3A09569}"/>
              </a:ext>
            </a:extLst>
          </p:cNvPr>
          <p:cNvSpPr>
            <a:spLocks noGrp="1"/>
          </p:cNvSpPr>
          <p:nvPr>
            <p:ph type="title"/>
          </p:nvPr>
        </p:nvSpPr>
        <p:spPr/>
        <p:txBody>
          <a:bodyPr/>
          <a:lstStyle/>
          <a:p>
            <a:r>
              <a:rPr lang="en-SG" dirty="0"/>
              <a:t>Introduction to RL</a:t>
            </a:r>
          </a:p>
        </p:txBody>
      </p:sp>
      <p:sp>
        <p:nvSpPr>
          <p:cNvPr id="3" name="Content Placeholder 2">
            <a:extLst>
              <a:ext uri="{FF2B5EF4-FFF2-40B4-BE49-F238E27FC236}">
                <a16:creationId xmlns:a16="http://schemas.microsoft.com/office/drawing/2014/main" id="{A58A4AC1-E958-A1D0-27B6-2A3F4FC8ED82}"/>
              </a:ext>
            </a:extLst>
          </p:cNvPr>
          <p:cNvSpPr>
            <a:spLocks noGrp="1"/>
          </p:cNvSpPr>
          <p:nvPr>
            <p:ph idx="1"/>
          </p:nvPr>
        </p:nvSpPr>
        <p:spPr/>
        <p:txBody>
          <a:bodyPr/>
          <a:lstStyle/>
          <a:p>
            <a:r>
              <a:rPr lang="en-SG" sz="2000" dirty="0"/>
              <a:t>RL is a machine learning approach where an agent will learn to make decisions based on the environment.</a:t>
            </a:r>
          </a:p>
          <a:p>
            <a:pPr marL="0" indent="0">
              <a:buNone/>
            </a:pPr>
            <a:r>
              <a:rPr lang="en-SG" sz="2400" dirty="0"/>
              <a:t>There are many components to RL:</a:t>
            </a:r>
          </a:p>
          <a:p>
            <a:r>
              <a:rPr lang="en-SG" sz="2000" dirty="0"/>
              <a:t>Agent: The learner/decision maker</a:t>
            </a:r>
          </a:p>
          <a:p>
            <a:r>
              <a:rPr lang="en-SG" sz="2000" dirty="0"/>
              <a:t>Environment: The system that the agents </a:t>
            </a:r>
          </a:p>
          <a:p>
            <a:r>
              <a:rPr lang="en-SG" sz="2000" dirty="0"/>
              <a:t>Actions: Choices made by the agent</a:t>
            </a:r>
          </a:p>
          <a:p>
            <a:r>
              <a:rPr lang="en-SG" sz="2000" dirty="0"/>
              <a:t>State: Current situation or context (infinite)</a:t>
            </a:r>
          </a:p>
          <a:p>
            <a:r>
              <a:rPr lang="en-SG" sz="2000" dirty="0"/>
              <a:t>Reward: Feedback from the environment, Positive/Negative</a:t>
            </a:r>
          </a:p>
          <a:p>
            <a:endParaRPr lang="en-SG" dirty="0"/>
          </a:p>
        </p:txBody>
      </p:sp>
    </p:spTree>
    <p:extLst>
      <p:ext uri="{BB962C8B-B14F-4D97-AF65-F5344CB8AC3E}">
        <p14:creationId xmlns:p14="http://schemas.microsoft.com/office/powerpoint/2010/main" val="1944640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B949D8D-8E17-4DBF-BEA8-13C57BF638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C6FC45-D4D9-4025-91DA-272D318D3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4393" y="237744"/>
            <a:ext cx="7652977" cy="6382512"/>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14" name="Rectangle 13">
            <a:extLst>
              <a:ext uri="{FF2B5EF4-FFF2-40B4-BE49-F238E27FC236}">
                <a16:creationId xmlns:a16="http://schemas.microsoft.com/office/drawing/2014/main" id="{EA284212-C175-4C82-B112-A5208F70C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809" y="393365"/>
            <a:ext cx="7328969" cy="6059273"/>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868680" y="642593"/>
            <a:ext cx="6281928" cy="1744183"/>
          </a:xfrm>
        </p:spPr>
        <p:txBody>
          <a:bodyPr>
            <a:normAutofit/>
          </a:bodyPr>
          <a:lstStyle/>
          <a:p>
            <a:r>
              <a:rPr lang="en-SG" dirty="0"/>
              <a:t>Objective for this assignment</a:t>
            </a:r>
          </a:p>
        </p:txBody>
      </p:sp>
      <p:sp>
        <p:nvSpPr>
          <p:cNvPr id="3" name="Content Placeholder 2">
            <a:extLst>
              <a:ext uri="{FF2B5EF4-FFF2-40B4-BE49-F238E27FC236}">
                <a16:creationId xmlns:a16="http://schemas.microsoft.com/office/drawing/2014/main" id="{E22242C8-8D6B-862C-27AD-4F22B396106F}"/>
              </a:ext>
            </a:extLst>
          </p:cNvPr>
          <p:cNvSpPr>
            <a:spLocks noGrp="1"/>
          </p:cNvSpPr>
          <p:nvPr>
            <p:ph idx="1"/>
          </p:nvPr>
        </p:nvSpPr>
        <p:spPr>
          <a:xfrm>
            <a:off x="868680" y="2386584"/>
            <a:ext cx="6281928" cy="3648456"/>
          </a:xfrm>
        </p:spPr>
        <p:txBody>
          <a:bodyPr>
            <a:normAutofit/>
          </a:bodyPr>
          <a:lstStyle/>
          <a:p>
            <a:r>
              <a:rPr lang="en-SG" sz="2000" dirty="0"/>
              <a:t>We will be using OpenAI Gym’s Pendulum-v0</a:t>
            </a:r>
          </a:p>
          <a:p>
            <a:r>
              <a:rPr lang="en-SG" sz="2000" dirty="0"/>
              <a:t>We want to balance the pendulum by exerting the optimal torque by applying deep Q-network (DQN) architecture.</a:t>
            </a:r>
          </a:p>
          <a:p>
            <a:endParaRPr lang="en-SG" dirty="0"/>
          </a:p>
        </p:txBody>
      </p:sp>
      <p:sp>
        <p:nvSpPr>
          <p:cNvPr id="16" name="Rectangle 15">
            <a:extLst>
              <a:ext uri="{FF2B5EF4-FFF2-40B4-BE49-F238E27FC236}">
                <a16:creationId xmlns:a16="http://schemas.microsoft.com/office/drawing/2014/main" id="{619EC706-8928-4DFD-8084-35D599EB4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7370" y="0"/>
            <a:ext cx="435463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ed object with a black circle and a black arrow&#10;&#10;Description automatically generated">
            <a:extLst>
              <a:ext uri="{FF2B5EF4-FFF2-40B4-BE49-F238E27FC236}">
                <a16:creationId xmlns:a16="http://schemas.microsoft.com/office/drawing/2014/main" id="{61F8ECAE-C23A-E3D4-08D7-9BA93CCA45A7}"/>
              </a:ext>
            </a:extLst>
          </p:cNvPr>
          <p:cNvPicPr>
            <a:picLocks noChangeAspect="1"/>
          </p:cNvPicPr>
          <p:nvPr/>
        </p:nvPicPr>
        <p:blipFill>
          <a:blip r:embed="rId2"/>
          <a:stretch>
            <a:fillRect/>
          </a:stretch>
        </p:blipFill>
        <p:spPr>
          <a:xfrm>
            <a:off x="8316242" y="2242082"/>
            <a:ext cx="3322121" cy="2375025"/>
          </a:xfrm>
          <a:prstGeom prst="rect">
            <a:avLst/>
          </a:prstGeom>
        </p:spPr>
      </p:pic>
    </p:spTree>
    <p:extLst>
      <p:ext uri="{BB962C8B-B14F-4D97-AF65-F5344CB8AC3E}">
        <p14:creationId xmlns:p14="http://schemas.microsoft.com/office/powerpoint/2010/main" val="4193046747"/>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7138D-F047-421D-FF0E-D2888AE3C010}"/>
              </a:ext>
            </a:extLst>
          </p:cNvPr>
          <p:cNvSpPr>
            <a:spLocks noGrp="1"/>
          </p:cNvSpPr>
          <p:nvPr>
            <p:ph type="title"/>
          </p:nvPr>
        </p:nvSpPr>
        <p:spPr/>
        <p:txBody>
          <a:bodyPr/>
          <a:lstStyle/>
          <a:p>
            <a:r>
              <a:rPr lang="en-SG" dirty="0"/>
              <a:t>DQN: DEEP Q-NETWORK</a:t>
            </a:r>
          </a:p>
        </p:txBody>
      </p:sp>
      <p:sp>
        <p:nvSpPr>
          <p:cNvPr id="3" name="Content Placeholder 2">
            <a:extLst>
              <a:ext uri="{FF2B5EF4-FFF2-40B4-BE49-F238E27FC236}">
                <a16:creationId xmlns:a16="http://schemas.microsoft.com/office/drawing/2014/main" id="{5736AE11-4AF9-8295-71F7-82DB74F680DC}"/>
              </a:ext>
            </a:extLst>
          </p:cNvPr>
          <p:cNvSpPr>
            <a:spLocks noGrp="1"/>
          </p:cNvSpPr>
          <p:nvPr>
            <p:ph idx="1"/>
          </p:nvPr>
        </p:nvSpPr>
        <p:spPr/>
        <p:txBody>
          <a:bodyPr>
            <a:normAutofit/>
          </a:bodyPr>
          <a:lstStyle/>
          <a:p>
            <a:r>
              <a:rPr lang="en-SG" sz="2400" dirty="0"/>
              <a:t>Q-Learning training involves updating network parameters to minimize the difference between the Q-values for all possible actions.</a:t>
            </a:r>
          </a:p>
          <a:p>
            <a:r>
              <a:rPr lang="en-SG" sz="2400" dirty="0"/>
              <a:t>DQN approximates the Q-function using a deep neural network, providing the expected rewards for taking the action(s) in state(s).</a:t>
            </a:r>
          </a:p>
        </p:txBody>
      </p:sp>
    </p:spTree>
    <p:extLst>
      <p:ext uri="{BB962C8B-B14F-4D97-AF65-F5344CB8AC3E}">
        <p14:creationId xmlns:p14="http://schemas.microsoft.com/office/powerpoint/2010/main" val="3815484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EB72A9B-FD82-4F09-BF1E-D39311D3A0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D39B371-6E4E-4070-AB4E-4D788405A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14" name="Rectangle 13">
            <a:extLst>
              <a:ext uri="{FF2B5EF4-FFF2-40B4-BE49-F238E27FC236}">
                <a16:creationId xmlns:a16="http://schemas.microsoft.com/office/drawing/2014/main" id="{B937DAED-8BFE-4563-BB45-B5E554D70A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SG"/>
          </a:p>
        </p:txBody>
      </p:sp>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1066800" y="642594"/>
            <a:ext cx="10058400" cy="1371600"/>
          </a:xfrm>
        </p:spPr>
        <p:txBody>
          <a:bodyPr>
            <a:normAutofit/>
          </a:bodyPr>
          <a:lstStyle/>
          <a:p>
            <a:pPr algn="ctr"/>
            <a:r>
              <a:rPr lang="en-SG" dirty="0"/>
              <a:t>Initialising the Pendulum Environment</a:t>
            </a:r>
          </a:p>
        </p:txBody>
      </p:sp>
      <p:sp>
        <p:nvSpPr>
          <p:cNvPr id="3" name="Content Placeholder 2">
            <a:extLst>
              <a:ext uri="{FF2B5EF4-FFF2-40B4-BE49-F238E27FC236}">
                <a16:creationId xmlns:a16="http://schemas.microsoft.com/office/drawing/2014/main" id="{E22242C8-8D6B-862C-27AD-4F22B396106F}"/>
              </a:ext>
            </a:extLst>
          </p:cNvPr>
          <p:cNvSpPr>
            <a:spLocks/>
          </p:cNvSpPr>
          <p:nvPr/>
        </p:nvSpPr>
        <p:spPr>
          <a:xfrm>
            <a:off x="5513193" y="2478331"/>
            <a:ext cx="5044370" cy="3557344"/>
          </a:xfrm>
          <a:prstGeom prst="rect">
            <a:avLst/>
          </a:prstGeom>
        </p:spPr>
        <p:txBody>
          <a:bodyPr>
            <a:normAutofit/>
          </a:bodyPr>
          <a:lstStyle/>
          <a:p>
            <a:pPr defTabSz="923544"/>
            <a:r>
              <a:rPr lang="en-SG" dirty="0"/>
              <a:t>We will initialise the pendulum env and set up an array for our rewards.</a:t>
            </a:r>
          </a:p>
          <a:p>
            <a:pPr defTabSz="923544"/>
            <a:endParaRPr lang="en-SG" dirty="0"/>
          </a:p>
        </p:txBody>
      </p:sp>
      <p:pic>
        <p:nvPicPr>
          <p:cNvPr id="5" name="Picture 4" descr="A screenshot of a computer program&#10;&#10;Description automatically generated">
            <a:extLst>
              <a:ext uri="{FF2B5EF4-FFF2-40B4-BE49-F238E27FC236}">
                <a16:creationId xmlns:a16="http://schemas.microsoft.com/office/drawing/2014/main" id="{2D68E7C4-BF18-024D-73D4-25C349382479}"/>
              </a:ext>
            </a:extLst>
          </p:cNvPr>
          <p:cNvPicPr>
            <a:picLocks noChangeAspect="1"/>
          </p:cNvPicPr>
          <p:nvPr/>
        </p:nvPicPr>
        <p:blipFill>
          <a:blip r:embed="rId2"/>
          <a:stretch>
            <a:fillRect/>
          </a:stretch>
        </p:blipFill>
        <p:spPr>
          <a:xfrm>
            <a:off x="1634437" y="2478331"/>
            <a:ext cx="3596115" cy="2215985"/>
          </a:xfrm>
          <a:prstGeom prst="rect">
            <a:avLst/>
          </a:prstGeom>
        </p:spPr>
      </p:pic>
    </p:spTree>
    <p:extLst>
      <p:ext uri="{BB962C8B-B14F-4D97-AF65-F5344CB8AC3E}">
        <p14:creationId xmlns:p14="http://schemas.microsoft.com/office/powerpoint/2010/main" val="2993921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6579450" y="727627"/>
            <a:ext cx="4957553" cy="1645920"/>
          </a:xfrm>
        </p:spPr>
        <p:txBody>
          <a:bodyPr>
            <a:normAutofit/>
          </a:bodyPr>
          <a:lstStyle/>
          <a:p>
            <a:r>
              <a:rPr lang="en-SG" dirty="0"/>
              <a:t>Base Model</a:t>
            </a:r>
          </a:p>
        </p:txBody>
      </p:sp>
      <p:sp>
        <p:nvSpPr>
          <p:cNvPr id="11" name="Rectangle 10">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SG"/>
          </a:p>
        </p:txBody>
      </p:sp>
      <p:sp>
        <p:nvSpPr>
          <p:cNvPr id="13" name="Rectangle 12">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SG"/>
          </a:p>
        </p:txBody>
      </p:sp>
      <p:pic>
        <p:nvPicPr>
          <p:cNvPr id="6" name="Picture 5" descr="A screenshot of a computer program&#10;&#10;Description automatically generated">
            <a:extLst>
              <a:ext uri="{FF2B5EF4-FFF2-40B4-BE49-F238E27FC236}">
                <a16:creationId xmlns:a16="http://schemas.microsoft.com/office/drawing/2014/main" id="{481A1AED-6B60-7820-234E-06AA8022C80B}"/>
              </a:ext>
            </a:extLst>
          </p:cNvPr>
          <p:cNvPicPr>
            <a:picLocks noChangeAspect="1"/>
          </p:cNvPicPr>
          <p:nvPr/>
        </p:nvPicPr>
        <p:blipFill>
          <a:blip r:embed="rId2"/>
          <a:stretch>
            <a:fillRect/>
          </a:stretch>
        </p:blipFill>
        <p:spPr>
          <a:xfrm>
            <a:off x="1205256" y="1994670"/>
            <a:ext cx="4414438" cy="2886825"/>
          </a:xfrm>
          <a:prstGeom prst="rect">
            <a:avLst/>
          </a:prstGeom>
        </p:spPr>
      </p:pic>
      <p:sp>
        <p:nvSpPr>
          <p:cNvPr id="3" name="Content Placeholder 2">
            <a:extLst>
              <a:ext uri="{FF2B5EF4-FFF2-40B4-BE49-F238E27FC236}">
                <a16:creationId xmlns:a16="http://schemas.microsoft.com/office/drawing/2014/main" id="{E22242C8-8D6B-862C-27AD-4F22B396106F}"/>
              </a:ext>
            </a:extLst>
          </p:cNvPr>
          <p:cNvSpPr>
            <a:spLocks noGrp="1"/>
          </p:cNvSpPr>
          <p:nvPr>
            <p:ph idx="1"/>
          </p:nvPr>
        </p:nvSpPr>
        <p:spPr>
          <a:xfrm>
            <a:off x="6579450" y="2538919"/>
            <a:ext cx="4957554" cy="3496120"/>
          </a:xfrm>
        </p:spPr>
        <p:txBody>
          <a:bodyPr>
            <a:normAutofit/>
          </a:bodyPr>
          <a:lstStyle/>
          <a:p>
            <a:r>
              <a:rPr lang="en-SG" dirty="0"/>
              <a:t>We will be implementing a DQN model with untuned hyperparameters.</a:t>
            </a:r>
          </a:p>
          <a:p>
            <a:r>
              <a:rPr lang="en-SG" dirty="0"/>
              <a:t>We will view the plot and view the average rewards allowing us to evaluate the performance.</a:t>
            </a:r>
          </a:p>
          <a:p>
            <a:r>
              <a:rPr lang="en-SG" dirty="0"/>
              <a:t>This will allow us to improve on the model through tuning the parameters.</a:t>
            </a:r>
          </a:p>
        </p:txBody>
      </p:sp>
    </p:spTree>
    <p:extLst>
      <p:ext uri="{BB962C8B-B14F-4D97-AF65-F5344CB8AC3E}">
        <p14:creationId xmlns:p14="http://schemas.microsoft.com/office/powerpoint/2010/main" val="3447071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E9EDDFA-8F05-462B-8D3E-5B9C4FBC7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showing a line of blue and green lines&#10;&#10;Description automatically generated with medium confidence">
            <a:extLst>
              <a:ext uri="{FF2B5EF4-FFF2-40B4-BE49-F238E27FC236}">
                <a16:creationId xmlns:a16="http://schemas.microsoft.com/office/drawing/2014/main" id="{421F9FF6-5CE2-C4D8-58CF-42C95F0ECB29}"/>
              </a:ext>
            </a:extLst>
          </p:cNvPr>
          <p:cNvPicPr>
            <a:picLocks noChangeAspect="1"/>
          </p:cNvPicPr>
          <p:nvPr/>
        </p:nvPicPr>
        <p:blipFill>
          <a:blip r:embed="rId2"/>
          <a:stretch>
            <a:fillRect/>
          </a:stretch>
        </p:blipFill>
        <p:spPr>
          <a:xfrm>
            <a:off x="727654" y="1919180"/>
            <a:ext cx="5367165" cy="3032447"/>
          </a:xfrm>
          <a:prstGeom prst="rect">
            <a:avLst/>
          </a:prstGeom>
        </p:spPr>
      </p:pic>
      <p:sp>
        <p:nvSpPr>
          <p:cNvPr id="12" name="Rectangle 11">
            <a:extLst>
              <a:ext uri="{FF2B5EF4-FFF2-40B4-BE49-F238E27FC236}">
                <a16:creationId xmlns:a16="http://schemas.microsoft.com/office/drawing/2014/main" id="{143F9A23-3237-4ED6-A1E9-C0E6530E05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1267" y="255102"/>
            <a:ext cx="5342133" cy="6361598"/>
          </a:xfrm>
          <a:prstGeom prst="rect">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63CD46D-4335-4BA4-842A-BF835A99C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9100" y="393365"/>
            <a:ext cx="5018211" cy="603554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7064082" y="642594"/>
            <a:ext cx="4472921" cy="1371600"/>
          </a:xfrm>
        </p:spPr>
        <p:txBody>
          <a:bodyPr>
            <a:normAutofit/>
          </a:bodyPr>
          <a:lstStyle/>
          <a:p>
            <a:r>
              <a:rPr lang="en-SG" dirty="0"/>
              <a:t>Base Model: Rewards Plot</a:t>
            </a:r>
          </a:p>
        </p:txBody>
      </p:sp>
      <p:sp>
        <p:nvSpPr>
          <p:cNvPr id="3" name="Content Placeholder 2">
            <a:extLst>
              <a:ext uri="{FF2B5EF4-FFF2-40B4-BE49-F238E27FC236}">
                <a16:creationId xmlns:a16="http://schemas.microsoft.com/office/drawing/2014/main" id="{E22242C8-8D6B-862C-27AD-4F22B396106F}"/>
              </a:ext>
            </a:extLst>
          </p:cNvPr>
          <p:cNvSpPr>
            <a:spLocks noGrp="1"/>
          </p:cNvSpPr>
          <p:nvPr>
            <p:ph idx="1"/>
          </p:nvPr>
        </p:nvSpPr>
        <p:spPr>
          <a:xfrm>
            <a:off x="7064082" y="2103120"/>
            <a:ext cx="4472922" cy="3931920"/>
          </a:xfrm>
        </p:spPr>
        <p:txBody>
          <a:bodyPr>
            <a:normAutofit/>
          </a:bodyPr>
          <a:lstStyle/>
          <a:p>
            <a:r>
              <a:rPr lang="en-SG" dirty="0"/>
              <a:t>We can see that the untuned model is extremely unstable and has an irregular graph. Especially at the end, the rewards become very volatile.</a:t>
            </a:r>
          </a:p>
          <a:p>
            <a:r>
              <a:rPr lang="en-SG" dirty="0"/>
              <a:t>We now need to stabilise the training of the DQN to allow for a smoother rewards process.</a:t>
            </a:r>
          </a:p>
          <a:p>
            <a:endParaRPr lang="en-SG" dirty="0"/>
          </a:p>
        </p:txBody>
      </p:sp>
    </p:spTree>
    <p:extLst>
      <p:ext uri="{BB962C8B-B14F-4D97-AF65-F5344CB8AC3E}">
        <p14:creationId xmlns:p14="http://schemas.microsoft.com/office/powerpoint/2010/main" val="3222602492"/>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B949D8D-8E17-4DBF-BEA8-13C57BF638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black background with a black square&#10;&#10;Description automatically generated with medium confidence">
            <a:extLst>
              <a:ext uri="{FF2B5EF4-FFF2-40B4-BE49-F238E27FC236}">
                <a16:creationId xmlns:a16="http://schemas.microsoft.com/office/drawing/2014/main" id="{5932627E-8E8A-E4E6-CA5B-955041A6070A}"/>
              </a:ext>
            </a:extLst>
          </p:cNvPr>
          <p:cNvPicPr>
            <a:picLocks noChangeAspect="1"/>
          </p:cNvPicPr>
          <p:nvPr/>
        </p:nvPicPr>
        <p:blipFill>
          <a:blip r:embed="rId2"/>
          <a:stretch>
            <a:fillRect/>
          </a:stretch>
        </p:blipFill>
        <p:spPr>
          <a:xfrm>
            <a:off x="553637" y="1768534"/>
            <a:ext cx="3322121" cy="3322121"/>
          </a:xfrm>
          <a:prstGeom prst="rect">
            <a:avLst/>
          </a:prstGeom>
        </p:spPr>
      </p:pic>
      <p:sp>
        <p:nvSpPr>
          <p:cNvPr id="14" name="Rectangle 13">
            <a:extLst>
              <a:ext uri="{FF2B5EF4-FFF2-40B4-BE49-F238E27FC236}">
                <a16:creationId xmlns:a16="http://schemas.microsoft.com/office/drawing/2014/main" id="{4BC6FC45-D4D9-4025-91DA-272D318D3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54630" y="237744"/>
            <a:ext cx="7652977" cy="6382512"/>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16" name="Rectangle 15">
            <a:extLst>
              <a:ext uri="{FF2B5EF4-FFF2-40B4-BE49-F238E27FC236}">
                <a16:creationId xmlns:a16="http://schemas.microsoft.com/office/drawing/2014/main" id="{EA284212-C175-4C82-B112-A5208F70C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9222" y="393365"/>
            <a:ext cx="7328969" cy="6059273"/>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5041392" y="642593"/>
            <a:ext cx="6281928" cy="1744183"/>
          </a:xfrm>
        </p:spPr>
        <p:txBody>
          <a:bodyPr>
            <a:normAutofit/>
          </a:bodyPr>
          <a:lstStyle/>
          <a:p>
            <a:r>
              <a:rPr lang="en-SG" dirty="0"/>
              <a:t>Epsilon</a:t>
            </a:r>
          </a:p>
        </p:txBody>
      </p:sp>
      <p:sp>
        <p:nvSpPr>
          <p:cNvPr id="9" name="Content Placeholder 8">
            <a:extLst>
              <a:ext uri="{FF2B5EF4-FFF2-40B4-BE49-F238E27FC236}">
                <a16:creationId xmlns:a16="http://schemas.microsoft.com/office/drawing/2014/main" id="{B7B5BEBB-CA69-766B-DBBE-7688EC285427}"/>
              </a:ext>
            </a:extLst>
          </p:cNvPr>
          <p:cNvSpPr>
            <a:spLocks noGrp="1"/>
          </p:cNvSpPr>
          <p:nvPr>
            <p:ph idx="1"/>
          </p:nvPr>
        </p:nvSpPr>
        <p:spPr>
          <a:xfrm>
            <a:off x="5041392" y="2386584"/>
            <a:ext cx="6281928" cy="3648456"/>
          </a:xfrm>
        </p:spPr>
        <p:txBody>
          <a:bodyPr>
            <a:normAutofit lnSpcReduction="10000"/>
          </a:bodyPr>
          <a:lstStyle/>
          <a:p>
            <a:r>
              <a:rPr lang="en-US" sz="1800" dirty="0"/>
              <a:t>Epsilon (ε) controls the exploration-exploitation balance. It represents the probability of choosing a random action rather than the best-known one. Initially high to encourage exploration, ε decreases over time to focus more on exploiting learned strategies.</a:t>
            </a:r>
          </a:p>
          <a:p>
            <a:r>
              <a:rPr lang="en-US" sz="1800" dirty="0"/>
              <a:t>We wish to strike a balance between exploitation and exploration but leaning towards exploitation.</a:t>
            </a:r>
          </a:p>
          <a:p>
            <a:r>
              <a:rPr lang="en-US" sz="1800" dirty="0"/>
              <a:t>This is because Epsilon at high values can provide erratic behavior leading to noisy/inconsistent performance.</a:t>
            </a:r>
          </a:p>
        </p:txBody>
      </p:sp>
    </p:spTree>
    <p:extLst>
      <p:ext uri="{BB962C8B-B14F-4D97-AF65-F5344CB8AC3E}">
        <p14:creationId xmlns:p14="http://schemas.microsoft.com/office/powerpoint/2010/main" val="285976610"/>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EE537B6-098D-494F-9A54-F22CD0977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7328FD4-8F4F-45D0-B179-C09F34FF8E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82" y="407588"/>
            <a:ext cx="5532146" cy="6066184"/>
          </a:xfrm>
          <a:prstGeom prst="rect">
            <a:avLst/>
          </a:prstGeom>
          <a:noFill/>
          <a:ln w="6350" cap="sq" cmpd="sng" algn="ctr">
            <a:solidFill>
              <a:srgbClr val="404040"/>
            </a:solidFill>
            <a:prstDash val="solid"/>
            <a:miter lim="800000"/>
          </a:ln>
          <a:effectLst/>
        </p:spPr>
        <p:txBody>
          <a:bodyPr/>
          <a:lstStyle/>
          <a:p>
            <a:endParaRPr lang="en-SG"/>
          </a:p>
        </p:txBody>
      </p:sp>
      <p:pic>
        <p:nvPicPr>
          <p:cNvPr id="4" name="Picture 3" descr="A graph of a function&#10;&#10;Description automatically generated with medium confidence">
            <a:extLst>
              <a:ext uri="{FF2B5EF4-FFF2-40B4-BE49-F238E27FC236}">
                <a16:creationId xmlns:a16="http://schemas.microsoft.com/office/drawing/2014/main" id="{44835518-7A44-F11A-FE54-AF32BA962B4C}"/>
              </a:ext>
            </a:extLst>
          </p:cNvPr>
          <p:cNvPicPr>
            <a:picLocks noChangeAspect="1"/>
          </p:cNvPicPr>
          <p:nvPr/>
        </p:nvPicPr>
        <p:blipFill>
          <a:blip r:embed="rId2"/>
          <a:stretch>
            <a:fillRect/>
          </a:stretch>
        </p:blipFill>
        <p:spPr>
          <a:xfrm>
            <a:off x="882713" y="2479593"/>
            <a:ext cx="4572418" cy="1943277"/>
          </a:xfrm>
          <a:prstGeom prst="rect">
            <a:avLst/>
          </a:prstGeom>
        </p:spPr>
      </p:pic>
      <p:sp>
        <p:nvSpPr>
          <p:cNvPr id="18" name="Rectangle 17">
            <a:extLst>
              <a:ext uri="{FF2B5EF4-FFF2-40B4-BE49-F238E27FC236}">
                <a16:creationId xmlns:a16="http://schemas.microsoft.com/office/drawing/2014/main" id="{4D22A8B8-E29F-4EB2-95D4-3C24EF234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1EF9F5-BAA7-45A5-BD84-F3184FCED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6846137" y="727626"/>
            <a:ext cx="4602152" cy="1718225"/>
          </a:xfrm>
        </p:spPr>
        <p:txBody>
          <a:bodyPr>
            <a:normAutofit/>
          </a:bodyPr>
          <a:lstStyle/>
          <a:p>
            <a:r>
              <a:rPr lang="en-SG" dirty="0"/>
              <a:t>Epsilon Decay</a:t>
            </a:r>
          </a:p>
        </p:txBody>
      </p:sp>
      <p:sp>
        <p:nvSpPr>
          <p:cNvPr id="9" name="Content Placeholder 8">
            <a:extLst>
              <a:ext uri="{FF2B5EF4-FFF2-40B4-BE49-F238E27FC236}">
                <a16:creationId xmlns:a16="http://schemas.microsoft.com/office/drawing/2014/main" id="{B7B5BEBB-CA69-766B-DBBE-7688EC285427}"/>
              </a:ext>
            </a:extLst>
          </p:cNvPr>
          <p:cNvSpPr>
            <a:spLocks noGrp="1"/>
          </p:cNvSpPr>
          <p:nvPr>
            <p:ph idx="1"/>
          </p:nvPr>
        </p:nvSpPr>
        <p:spPr>
          <a:xfrm>
            <a:off x="6846137" y="2538919"/>
            <a:ext cx="4602152" cy="3557805"/>
          </a:xfrm>
        </p:spPr>
        <p:txBody>
          <a:bodyPr>
            <a:normAutofit/>
          </a:bodyPr>
          <a:lstStyle/>
          <a:p>
            <a:r>
              <a:rPr lang="en-US" dirty="0"/>
              <a:t>Epsilon decay gradually reduces the exploration rate in reinforcement learning. Initially high to encourage trying different actions, it decreases over time, allowing the agent to focus more on exploiting known strategies while still exploring occasionally.</a:t>
            </a:r>
          </a:p>
          <a:p>
            <a:r>
              <a:rPr lang="en-US" dirty="0"/>
              <a:t>We have used two methods of epsilon decay: Exponential and Linear.</a:t>
            </a:r>
          </a:p>
          <a:p>
            <a:endParaRPr lang="en-US" dirty="0"/>
          </a:p>
        </p:txBody>
      </p:sp>
    </p:spTree>
    <p:extLst>
      <p:ext uri="{BB962C8B-B14F-4D97-AF65-F5344CB8AC3E}">
        <p14:creationId xmlns:p14="http://schemas.microsoft.com/office/powerpoint/2010/main" val="3370967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EE537B6-098D-494F-9A54-F22CD0977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7328FD4-8F4F-45D0-B179-C09F34FF8E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82" y="407588"/>
            <a:ext cx="5532146" cy="6066184"/>
          </a:xfrm>
          <a:prstGeom prst="rect">
            <a:avLst/>
          </a:prstGeom>
          <a:noFill/>
          <a:ln w="6350" cap="sq" cmpd="sng" algn="ctr">
            <a:solidFill>
              <a:srgbClr val="404040"/>
            </a:solidFill>
            <a:prstDash val="solid"/>
            <a:miter lim="800000"/>
          </a:ln>
          <a:effectLst/>
        </p:spPr>
        <p:txBody>
          <a:bodyPr/>
          <a:lstStyle/>
          <a:p>
            <a:endParaRPr lang="en-SG"/>
          </a:p>
        </p:txBody>
      </p:sp>
      <p:pic>
        <p:nvPicPr>
          <p:cNvPr id="10" name="Picture 9" descr="A graph with a line&#10;&#10;Description automatically generated">
            <a:extLst>
              <a:ext uri="{FF2B5EF4-FFF2-40B4-BE49-F238E27FC236}">
                <a16:creationId xmlns:a16="http://schemas.microsoft.com/office/drawing/2014/main" id="{46D82AF3-4E4D-4121-07C4-E804A81A6741}"/>
              </a:ext>
            </a:extLst>
          </p:cNvPr>
          <p:cNvPicPr>
            <a:picLocks noChangeAspect="1"/>
          </p:cNvPicPr>
          <p:nvPr/>
        </p:nvPicPr>
        <p:blipFill>
          <a:blip r:embed="rId2"/>
          <a:stretch>
            <a:fillRect/>
          </a:stretch>
        </p:blipFill>
        <p:spPr>
          <a:xfrm>
            <a:off x="882713" y="1453574"/>
            <a:ext cx="4572418" cy="3995316"/>
          </a:xfrm>
          <a:prstGeom prst="rect">
            <a:avLst/>
          </a:prstGeom>
        </p:spPr>
      </p:pic>
      <p:sp>
        <p:nvSpPr>
          <p:cNvPr id="19" name="Rectangle 18">
            <a:extLst>
              <a:ext uri="{FF2B5EF4-FFF2-40B4-BE49-F238E27FC236}">
                <a16:creationId xmlns:a16="http://schemas.microsoft.com/office/drawing/2014/main" id="{4D22A8B8-E29F-4EB2-95D4-3C24EF234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51EF9F5-BAA7-45A5-BD84-F3184FCED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6846137" y="727626"/>
            <a:ext cx="4602152" cy="1718225"/>
          </a:xfrm>
        </p:spPr>
        <p:txBody>
          <a:bodyPr>
            <a:normAutofit/>
          </a:bodyPr>
          <a:lstStyle/>
          <a:p>
            <a:r>
              <a:rPr lang="en-SG" dirty="0"/>
              <a:t>Epsilon Decay: Linear</a:t>
            </a:r>
          </a:p>
        </p:txBody>
      </p:sp>
      <p:sp>
        <p:nvSpPr>
          <p:cNvPr id="9" name="Content Placeholder 8">
            <a:extLst>
              <a:ext uri="{FF2B5EF4-FFF2-40B4-BE49-F238E27FC236}">
                <a16:creationId xmlns:a16="http://schemas.microsoft.com/office/drawing/2014/main" id="{B7B5BEBB-CA69-766B-DBBE-7688EC285427}"/>
              </a:ext>
            </a:extLst>
          </p:cNvPr>
          <p:cNvSpPr>
            <a:spLocks noGrp="1"/>
          </p:cNvSpPr>
          <p:nvPr>
            <p:ph idx="1"/>
          </p:nvPr>
        </p:nvSpPr>
        <p:spPr>
          <a:xfrm>
            <a:off x="6846137" y="2538919"/>
            <a:ext cx="4602152" cy="3557805"/>
          </a:xfrm>
        </p:spPr>
        <p:txBody>
          <a:bodyPr>
            <a:normAutofit/>
          </a:bodyPr>
          <a:lstStyle/>
          <a:p>
            <a:r>
              <a:rPr lang="en-US" sz="2000" dirty="0"/>
              <a:t>Linear Decay: Epsilon decreases at a constant rate. For example, if epsilon starts at 1.0 and decays linearly to 0.1 over 1000 steps, it reduces by a fixed amount each step, providing a steady decrease.</a:t>
            </a:r>
          </a:p>
        </p:txBody>
      </p:sp>
    </p:spTree>
    <p:extLst>
      <p:ext uri="{BB962C8B-B14F-4D97-AF65-F5344CB8AC3E}">
        <p14:creationId xmlns:p14="http://schemas.microsoft.com/office/powerpoint/2010/main" val="2223281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EE537B6-098D-494F-9A54-F22CD0977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7328FD4-8F4F-45D0-B179-C09F34FF8E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82" y="407588"/>
            <a:ext cx="5532146" cy="6066184"/>
          </a:xfrm>
          <a:prstGeom prst="rect">
            <a:avLst/>
          </a:prstGeom>
          <a:noFill/>
          <a:ln w="6350" cap="sq" cmpd="sng" algn="ctr">
            <a:solidFill>
              <a:srgbClr val="404040"/>
            </a:solidFill>
            <a:prstDash val="solid"/>
            <a:miter lim="800000"/>
          </a:ln>
          <a:effectLst/>
        </p:spPr>
        <p:txBody>
          <a:bodyPr/>
          <a:lstStyle/>
          <a:p>
            <a:endParaRPr lang="en-SG"/>
          </a:p>
        </p:txBody>
      </p:sp>
      <p:pic>
        <p:nvPicPr>
          <p:cNvPr id="5" name="Picture 4" descr="A graph with a blue line&#10;&#10;Description automatically generated">
            <a:extLst>
              <a:ext uri="{FF2B5EF4-FFF2-40B4-BE49-F238E27FC236}">
                <a16:creationId xmlns:a16="http://schemas.microsoft.com/office/drawing/2014/main" id="{EF922D28-5DFC-22F1-418D-406A4BEE9222}"/>
              </a:ext>
            </a:extLst>
          </p:cNvPr>
          <p:cNvPicPr>
            <a:picLocks noChangeAspect="1"/>
          </p:cNvPicPr>
          <p:nvPr/>
        </p:nvPicPr>
        <p:blipFill>
          <a:blip r:embed="rId2"/>
          <a:stretch>
            <a:fillRect/>
          </a:stretch>
        </p:blipFill>
        <p:spPr>
          <a:xfrm>
            <a:off x="882713" y="1549619"/>
            <a:ext cx="4572418" cy="3803225"/>
          </a:xfrm>
          <a:prstGeom prst="rect">
            <a:avLst/>
          </a:prstGeom>
        </p:spPr>
      </p:pic>
      <p:sp>
        <p:nvSpPr>
          <p:cNvPr id="18" name="Rectangle 17">
            <a:extLst>
              <a:ext uri="{FF2B5EF4-FFF2-40B4-BE49-F238E27FC236}">
                <a16:creationId xmlns:a16="http://schemas.microsoft.com/office/drawing/2014/main" id="{4D22A8B8-E29F-4EB2-95D4-3C24EF234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1EF9F5-BAA7-45A5-BD84-F3184FCED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6846137" y="727626"/>
            <a:ext cx="4602152" cy="1718225"/>
          </a:xfrm>
        </p:spPr>
        <p:txBody>
          <a:bodyPr>
            <a:normAutofit/>
          </a:bodyPr>
          <a:lstStyle/>
          <a:p>
            <a:r>
              <a:rPr lang="en-SG" dirty="0"/>
              <a:t>Epsilon Decay: Exponential</a:t>
            </a:r>
          </a:p>
        </p:txBody>
      </p:sp>
      <p:sp>
        <p:nvSpPr>
          <p:cNvPr id="9" name="Content Placeholder 8">
            <a:extLst>
              <a:ext uri="{FF2B5EF4-FFF2-40B4-BE49-F238E27FC236}">
                <a16:creationId xmlns:a16="http://schemas.microsoft.com/office/drawing/2014/main" id="{B7B5BEBB-CA69-766B-DBBE-7688EC285427}"/>
              </a:ext>
            </a:extLst>
          </p:cNvPr>
          <p:cNvSpPr>
            <a:spLocks noGrp="1"/>
          </p:cNvSpPr>
          <p:nvPr>
            <p:ph idx="1"/>
          </p:nvPr>
        </p:nvSpPr>
        <p:spPr>
          <a:xfrm>
            <a:off x="6846137" y="2538919"/>
            <a:ext cx="4602152" cy="3557805"/>
          </a:xfrm>
        </p:spPr>
        <p:txBody>
          <a:bodyPr>
            <a:normAutofit/>
          </a:bodyPr>
          <a:lstStyle/>
          <a:p>
            <a:r>
              <a:rPr lang="en-US" sz="1600" dirty="0"/>
              <a:t>Exponential Decay: Epsilon decreases at a rate proportional to its current value, resulting in a rapid drop initially that slows down over time. For example, epsilon might decrease from 1.0 to a small value using a multiplicative factor in each step, leading to a curve that flattens out.</a:t>
            </a:r>
          </a:p>
          <a:p>
            <a:r>
              <a:rPr lang="en-US" sz="1600" dirty="0"/>
              <a:t>Exponential decay starts out fast and gradually levels off.</a:t>
            </a:r>
          </a:p>
        </p:txBody>
      </p:sp>
    </p:spTree>
    <p:extLst>
      <p:ext uri="{BB962C8B-B14F-4D97-AF65-F5344CB8AC3E}">
        <p14:creationId xmlns:p14="http://schemas.microsoft.com/office/powerpoint/2010/main" val="711394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a blue line&#10;&#10;Description automatically generated">
            <a:extLst>
              <a:ext uri="{FF2B5EF4-FFF2-40B4-BE49-F238E27FC236}">
                <a16:creationId xmlns:a16="http://schemas.microsoft.com/office/drawing/2014/main" id="{EF922D28-5DFC-22F1-418D-406A4BEE9222}"/>
              </a:ext>
            </a:extLst>
          </p:cNvPr>
          <p:cNvPicPr>
            <a:picLocks noChangeAspect="1"/>
          </p:cNvPicPr>
          <p:nvPr/>
        </p:nvPicPr>
        <p:blipFill>
          <a:blip r:embed="rId2"/>
          <a:stretch>
            <a:fillRect/>
          </a:stretch>
        </p:blipFill>
        <p:spPr>
          <a:xfrm>
            <a:off x="978965" y="544238"/>
            <a:ext cx="4234719" cy="3522335"/>
          </a:xfrm>
          <a:prstGeom prst="rect">
            <a:avLst/>
          </a:prstGeom>
        </p:spPr>
      </p:pic>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6846137" y="727626"/>
            <a:ext cx="4602152" cy="1718225"/>
          </a:xfrm>
        </p:spPr>
        <p:txBody>
          <a:bodyPr>
            <a:normAutofit/>
          </a:bodyPr>
          <a:lstStyle/>
          <a:p>
            <a:r>
              <a:rPr lang="en-SG" dirty="0"/>
              <a:t>Epsilon Decay Choice: Exponential</a:t>
            </a:r>
          </a:p>
        </p:txBody>
      </p:sp>
      <p:sp>
        <p:nvSpPr>
          <p:cNvPr id="9" name="Content Placeholder 8">
            <a:extLst>
              <a:ext uri="{FF2B5EF4-FFF2-40B4-BE49-F238E27FC236}">
                <a16:creationId xmlns:a16="http://schemas.microsoft.com/office/drawing/2014/main" id="{B7B5BEBB-CA69-766B-DBBE-7688EC285427}"/>
              </a:ext>
            </a:extLst>
          </p:cNvPr>
          <p:cNvSpPr>
            <a:spLocks noGrp="1"/>
          </p:cNvSpPr>
          <p:nvPr>
            <p:ph idx="1"/>
          </p:nvPr>
        </p:nvSpPr>
        <p:spPr>
          <a:xfrm>
            <a:off x="6846137" y="2538919"/>
            <a:ext cx="4602152" cy="3557805"/>
          </a:xfrm>
        </p:spPr>
        <p:txBody>
          <a:bodyPr>
            <a:normAutofit fontScale="85000" lnSpcReduction="10000"/>
          </a:bodyPr>
          <a:lstStyle/>
          <a:p>
            <a:r>
              <a:rPr lang="en-US" sz="2000" dirty="0"/>
              <a:t>We will be choosing exponential decay to implement in our DQN</a:t>
            </a:r>
          </a:p>
          <a:p>
            <a:r>
              <a:rPr lang="en-US" sz="2000" dirty="0"/>
              <a:t>It allows the agent to explore a lot at the beginning of training, when discovering diverse actions is crucial, and then gradually focus more on exploiting known strategies. This approach speeds up exploration early on and provides a smoother transition to more targeted learning, helping the agent adapt and improve its performance over time.</a:t>
            </a:r>
            <a:endParaRPr lang="en-US" sz="1600" dirty="0"/>
          </a:p>
        </p:txBody>
      </p:sp>
      <p:pic>
        <p:nvPicPr>
          <p:cNvPr id="4" name="Picture 3" descr="A close-up of a computer&#10;&#10;Description automatically generated">
            <a:extLst>
              <a:ext uri="{FF2B5EF4-FFF2-40B4-BE49-F238E27FC236}">
                <a16:creationId xmlns:a16="http://schemas.microsoft.com/office/drawing/2014/main" id="{7DD74830-B030-3E55-C467-CA83EA782B0A}"/>
              </a:ext>
            </a:extLst>
          </p:cNvPr>
          <p:cNvPicPr>
            <a:picLocks noChangeAspect="1"/>
          </p:cNvPicPr>
          <p:nvPr/>
        </p:nvPicPr>
        <p:blipFill>
          <a:blip r:embed="rId3"/>
          <a:stretch>
            <a:fillRect/>
          </a:stretch>
        </p:blipFill>
        <p:spPr>
          <a:xfrm>
            <a:off x="978965" y="4317821"/>
            <a:ext cx="5487166" cy="590632"/>
          </a:xfrm>
          <a:prstGeom prst="rect">
            <a:avLst/>
          </a:prstGeom>
        </p:spPr>
      </p:pic>
      <p:sp>
        <p:nvSpPr>
          <p:cNvPr id="6" name="TextBox 5">
            <a:extLst>
              <a:ext uri="{FF2B5EF4-FFF2-40B4-BE49-F238E27FC236}">
                <a16:creationId xmlns:a16="http://schemas.microsoft.com/office/drawing/2014/main" id="{A8DB2F6E-D342-E9DA-4F77-BADD1C365BF8}"/>
              </a:ext>
            </a:extLst>
          </p:cNvPr>
          <p:cNvSpPr txBox="1"/>
          <p:nvPr/>
        </p:nvSpPr>
        <p:spPr>
          <a:xfrm>
            <a:off x="978965" y="5261811"/>
            <a:ext cx="5487166" cy="646331"/>
          </a:xfrm>
          <a:prstGeom prst="rect">
            <a:avLst/>
          </a:prstGeom>
          <a:noFill/>
        </p:spPr>
        <p:txBody>
          <a:bodyPr wrap="square" rtlCol="0">
            <a:spAutoFit/>
          </a:bodyPr>
          <a:lstStyle/>
          <a:p>
            <a:r>
              <a:rPr lang="en-SG" dirty="0"/>
              <a:t>Implemented into </a:t>
            </a:r>
            <a:r>
              <a:rPr lang="en-SG" dirty="0" err="1"/>
              <a:t>OneEpisode</a:t>
            </a:r>
            <a:r>
              <a:rPr lang="en-SG" dirty="0"/>
              <a:t> function so it will decay the epsilon every episode.</a:t>
            </a:r>
          </a:p>
        </p:txBody>
      </p:sp>
    </p:spTree>
    <p:extLst>
      <p:ext uri="{BB962C8B-B14F-4D97-AF65-F5344CB8AC3E}">
        <p14:creationId xmlns:p14="http://schemas.microsoft.com/office/powerpoint/2010/main" val="2498083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7B58A187-A4B1-42EB-A4C7-8635BA507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SG"/>
          </a:p>
        </p:txBody>
      </p:sp>
      <p:sp>
        <p:nvSpPr>
          <p:cNvPr id="11" name="Rectangle 10">
            <a:extLst>
              <a:ext uri="{FF2B5EF4-FFF2-40B4-BE49-F238E27FC236}">
                <a16:creationId xmlns:a16="http://schemas.microsoft.com/office/drawing/2014/main" id="{37F14E7F-3054-458C-ACF9-A8DA1757C6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SG"/>
          </a:p>
        </p:txBody>
      </p:sp>
      <p:sp>
        <p:nvSpPr>
          <p:cNvPr id="13" name="Rectangle 12">
            <a:extLst>
              <a:ext uri="{FF2B5EF4-FFF2-40B4-BE49-F238E27FC236}">
                <a16:creationId xmlns:a16="http://schemas.microsoft.com/office/drawing/2014/main" id="{93747C1C-97FC-4D70-A6C8-A01FBCF5A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grpSp>
        <p:nvGrpSpPr>
          <p:cNvPr id="15" name="Group 14">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16" name="Straight Connector 15">
              <a:extLst>
                <a:ext uri="{FF2B5EF4-FFF2-40B4-BE49-F238E27FC236}">
                  <a16:creationId xmlns:a16="http://schemas.microsoft.com/office/drawing/2014/main" id="{05CDC370-AE44-4300-98BA-FE204E8817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7B15501-CB9A-4642-80EE-2876EF039EB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FF9525-325F-47B3-A63C-93C12253AD7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B66F8A2C-B8CF-4B20-9A73-2ADCF63027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a:extLst>
              <a:ext uri="{FF2B5EF4-FFF2-40B4-BE49-F238E27FC236}">
                <a16:creationId xmlns:a16="http://schemas.microsoft.com/office/drawing/2014/main" id="{B5DD78E9-DE0D-47AF-A0DB-F475221E3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108" y="610955"/>
            <a:ext cx="10927784" cy="5636090"/>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txBody>
          <a:bodyPr/>
          <a:lstStyle/>
          <a:p>
            <a:endParaRPr lang="en-SG"/>
          </a:p>
        </p:txBody>
      </p:sp>
      <p:sp>
        <p:nvSpPr>
          <p:cNvPr id="24" name="Rectangle 23">
            <a:extLst>
              <a:ext uri="{FF2B5EF4-FFF2-40B4-BE49-F238E27FC236}">
                <a16:creationId xmlns:a16="http://schemas.microsoft.com/office/drawing/2014/main" id="{A118D329-2010-4A15-B57C-429FFAE35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052" y="777240"/>
            <a:ext cx="10597896" cy="5303520"/>
          </a:xfrm>
          <a:prstGeom prst="rect">
            <a:avLst/>
          </a:prstGeom>
          <a:solidFill>
            <a:schemeClr val="bg1">
              <a:lumMod val="85000"/>
              <a:lumOff val="15000"/>
            </a:schemeClr>
          </a:solidFill>
          <a:ln w="6350" cap="sq" cmpd="sng" algn="ctr">
            <a:solidFill>
              <a:schemeClr val="tx1"/>
            </a:solidFill>
            <a:prstDash val="solid"/>
            <a:miter lim="800000"/>
          </a:ln>
          <a:effectLst/>
        </p:spPr>
        <p:txBody>
          <a:bodyPr/>
          <a:lstStyle/>
          <a:p>
            <a:endParaRPr lang="en-SG"/>
          </a:p>
        </p:txBody>
      </p:sp>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1263520" y="1272800"/>
            <a:ext cx="6544620" cy="4312402"/>
          </a:xfrm>
        </p:spPr>
        <p:txBody>
          <a:bodyPr vert="horz" lIns="91440" tIns="45720" rIns="91440" bIns="45720" rtlCol="0" anchor="ctr">
            <a:normAutofit/>
          </a:bodyPr>
          <a:lstStyle/>
          <a:p>
            <a:pPr algn="r">
              <a:lnSpc>
                <a:spcPct val="83000"/>
              </a:lnSpc>
            </a:pPr>
            <a:r>
              <a:rPr lang="en-US" sz="5300" cap="all" spc="-100">
                <a:solidFill>
                  <a:schemeClr val="tx1"/>
                </a:solidFill>
              </a:rPr>
              <a:t>Hyperparameter Tuning</a:t>
            </a:r>
          </a:p>
        </p:txBody>
      </p:sp>
      <p:cxnSp>
        <p:nvCxnSpPr>
          <p:cNvPr id="26" name="Straight Connector 25">
            <a:extLst>
              <a:ext uri="{FF2B5EF4-FFF2-40B4-BE49-F238E27FC236}">
                <a16:creationId xmlns:a16="http://schemas.microsoft.com/office/drawing/2014/main" id="{994262BC-EE98-4BD6-82DB-4955E8DCC2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2" y="2057401"/>
            <a:ext cx="0" cy="274320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4045598"/>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868680" y="642593"/>
            <a:ext cx="6281928" cy="1744183"/>
          </a:xfrm>
        </p:spPr>
        <p:txBody>
          <a:bodyPr>
            <a:normAutofit/>
          </a:bodyPr>
          <a:lstStyle/>
          <a:p>
            <a:r>
              <a:rPr lang="en-SG" dirty="0"/>
              <a:t>Actions to discretise the range of episodes (</a:t>
            </a:r>
            <a:r>
              <a:rPr lang="en-SG" dirty="0" err="1"/>
              <a:t>NActions</a:t>
            </a:r>
            <a:r>
              <a:rPr lang="en-SG" dirty="0"/>
              <a:t>)</a:t>
            </a:r>
          </a:p>
        </p:txBody>
      </p:sp>
      <p:sp>
        <p:nvSpPr>
          <p:cNvPr id="3" name="Content Placeholder 2">
            <a:extLst>
              <a:ext uri="{FF2B5EF4-FFF2-40B4-BE49-F238E27FC236}">
                <a16:creationId xmlns:a16="http://schemas.microsoft.com/office/drawing/2014/main" id="{E22242C8-8D6B-862C-27AD-4F22B396106F}"/>
              </a:ext>
            </a:extLst>
          </p:cNvPr>
          <p:cNvSpPr>
            <a:spLocks noGrp="1"/>
          </p:cNvSpPr>
          <p:nvPr>
            <p:ph idx="1"/>
          </p:nvPr>
        </p:nvSpPr>
        <p:spPr>
          <a:xfrm>
            <a:off x="868680" y="2386584"/>
            <a:ext cx="6281928" cy="3648456"/>
          </a:xfrm>
        </p:spPr>
        <p:txBody>
          <a:bodyPr>
            <a:normAutofit/>
          </a:bodyPr>
          <a:lstStyle/>
          <a:p>
            <a:r>
              <a:rPr lang="en-SG" sz="2000" dirty="0"/>
              <a:t>Since we are using the OpenAI Gym’s Pendulum-v0, we will require less actions (20-30 discrete actions) compared to 40.</a:t>
            </a:r>
          </a:p>
          <a:p>
            <a:r>
              <a:rPr lang="en-SG" sz="2000" dirty="0"/>
              <a:t>This is because we want to provide precise control over the torque applied while completing a simpler tasks. </a:t>
            </a:r>
          </a:p>
          <a:p>
            <a:r>
              <a:rPr lang="en-SG" sz="2000" dirty="0"/>
              <a:t>20-30 is considered more actions meaning the agent can better fine-tune its actions to keep the pendulum upright.</a:t>
            </a:r>
          </a:p>
        </p:txBody>
      </p:sp>
      <p:pic>
        <p:nvPicPr>
          <p:cNvPr id="6" name="Picture 5" descr="A screenshot of a computer program&#10;&#10;Description automatically generated">
            <a:extLst>
              <a:ext uri="{FF2B5EF4-FFF2-40B4-BE49-F238E27FC236}">
                <a16:creationId xmlns:a16="http://schemas.microsoft.com/office/drawing/2014/main" id="{C4B11E4C-E31C-B5AB-9E1E-45A9E69A69DB}"/>
              </a:ext>
            </a:extLst>
          </p:cNvPr>
          <p:cNvPicPr>
            <a:picLocks noChangeAspect="1"/>
          </p:cNvPicPr>
          <p:nvPr/>
        </p:nvPicPr>
        <p:blipFill>
          <a:blip r:embed="rId2"/>
          <a:stretch>
            <a:fillRect/>
          </a:stretch>
        </p:blipFill>
        <p:spPr>
          <a:xfrm>
            <a:off x="7246051" y="3048000"/>
            <a:ext cx="4598763" cy="1504268"/>
          </a:xfrm>
          <a:prstGeom prst="rect">
            <a:avLst/>
          </a:prstGeom>
        </p:spPr>
      </p:pic>
      <p:pic>
        <p:nvPicPr>
          <p:cNvPr id="8" name="Picture 7">
            <a:extLst>
              <a:ext uri="{FF2B5EF4-FFF2-40B4-BE49-F238E27FC236}">
                <a16:creationId xmlns:a16="http://schemas.microsoft.com/office/drawing/2014/main" id="{E8EBAC61-8D3C-FE2D-9871-AF28FDF76517}"/>
              </a:ext>
            </a:extLst>
          </p:cNvPr>
          <p:cNvPicPr>
            <a:picLocks noChangeAspect="1"/>
          </p:cNvPicPr>
          <p:nvPr/>
        </p:nvPicPr>
        <p:blipFill>
          <a:blip r:embed="rId3"/>
          <a:stretch>
            <a:fillRect/>
          </a:stretch>
        </p:blipFill>
        <p:spPr>
          <a:xfrm>
            <a:off x="7246050" y="4900547"/>
            <a:ext cx="4380361" cy="826485"/>
          </a:xfrm>
          <a:prstGeom prst="rect">
            <a:avLst/>
          </a:prstGeom>
        </p:spPr>
      </p:pic>
    </p:spTree>
    <p:extLst>
      <p:ext uri="{BB962C8B-B14F-4D97-AF65-F5344CB8AC3E}">
        <p14:creationId xmlns:p14="http://schemas.microsoft.com/office/powerpoint/2010/main" val="254613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EE537B6-098D-494F-9A54-F22CD0977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7328FD4-8F4F-45D0-B179-C09F34FF8E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82" y="407588"/>
            <a:ext cx="5532146" cy="6066184"/>
          </a:xfrm>
          <a:prstGeom prst="rect">
            <a:avLst/>
          </a:prstGeom>
          <a:noFill/>
          <a:ln w="6350" cap="sq" cmpd="sng" algn="ctr">
            <a:solidFill>
              <a:srgbClr val="404040"/>
            </a:solidFill>
            <a:prstDash val="solid"/>
            <a:miter lim="800000"/>
          </a:ln>
          <a:effectLst/>
        </p:spPr>
        <p:txBody>
          <a:bodyPr/>
          <a:lstStyle/>
          <a:p>
            <a:endParaRPr lang="en-SG"/>
          </a:p>
        </p:txBody>
      </p:sp>
      <p:pic>
        <p:nvPicPr>
          <p:cNvPr id="5" name="Content Placeholder 4" descr="A screenshot of a computer code&#10;&#10;Description automatically generated">
            <a:extLst>
              <a:ext uri="{FF2B5EF4-FFF2-40B4-BE49-F238E27FC236}">
                <a16:creationId xmlns:a16="http://schemas.microsoft.com/office/drawing/2014/main" id="{1703BCAB-0BE7-1300-8332-B08B4231BC72}"/>
              </a:ext>
            </a:extLst>
          </p:cNvPr>
          <p:cNvPicPr>
            <a:picLocks noChangeAspect="1"/>
          </p:cNvPicPr>
          <p:nvPr/>
        </p:nvPicPr>
        <p:blipFill>
          <a:blip r:embed="rId2"/>
          <a:stretch>
            <a:fillRect/>
          </a:stretch>
        </p:blipFill>
        <p:spPr>
          <a:xfrm>
            <a:off x="882713" y="1202708"/>
            <a:ext cx="4572418" cy="4497048"/>
          </a:xfrm>
          <a:prstGeom prst="rect">
            <a:avLst/>
          </a:prstGeom>
        </p:spPr>
      </p:pic>
      <p:sp>
        <p:nvSpPr>
          <p:cNvPr id="16" name="Rectangle 15">
            <a:extLst>
              <a:ext uri="{FF2B5EF4-FFF2-40B4-BE49-F238E27FC236}">
                <a16:creationId xmlns:a16="http://schemas.microsoft.com/office/drawing/2014/main" id="{4D22A8B8-E29F-4EB2-95D4-3C24EF234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51EF9F5-BAA7-45A5-BD84-F3184FCED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6836350" y="10694"/>
            <a:ext cx="4602152" cy="1718225"/>
          </a:xfrm>
        </p:spPr>
        <p:txBody>
          <a:bodyPr>
            <a:normAutofit/>
          </a:bodyPr>
          <a:lstStyle/>
          <a:p>
            <a:r>
              <a:rPr lang="en-SG" dirty="0"/>
              <a:t>Parameters</a:t>
            </a:r>
          </a:p>
        </p:txBody>
      </p:sp>
      <p:sp>
        <p:nvSpPr>
          <p:cNvPr id="9" name="Content Placeholder 8">
            <a:extLst>
              <a:ext uri="{FF2B5EF4-FFF2-40B4-BE49-F238E27FC236}">
                <a16:creationId xmlns:a16="http://schemas.microsoft.com/office/drawing/2014/main" id="{19500EB9-E6AD-DA7A-13A7-C860CBA387AD}"/>
              </a:ext>
            </a:extLst>
          </p:cNvPr>
          <p:cNvSpPr>
            <a:spLocks noGrp="1"/>
          </p:cNvSpPr>
          <p:nvPr>
            <p:ph idx="1"/>
          </p:nvPr>
        </p:nvSpPr>
        <p:spPr>
          <a:xfrm>
            <a:off x="6836350" y="1202709"/>
            <a:ext cx="4602152" cy="5101838"/>
          </a:xfrm>
        </p:spPr>
        <p:txBody>
          <a:bodyPr>
            <a:normAutofit/>
          </a:bodyPr>
          <a:lstStyle/>
          <a:p>
            <a:r>
              <a:rPr lang="en-US" dirty="0"/>
              <a:t>The lowered learning rate will allow for a stabler learning process. The risk of overestimating Q values will be lowered, allowing the training to be smoother.</a:t>
            </a:r>
          </a:p>
          <a:p>
            <a:r>
              <a:rPr lang="en-US" dirty="0"/>
              <a:t>Gamma controls how much the agent values future rewards compared to immediate rewards. This means that a lowered value, allows the agent to be more responsive to current rewards, possibly allowing for quicker learning.</a:t>
            </a:r>
          </a:p>
          <a:p>
            <a:r>
              <a:rPr lang="en-US" dirty="0"/>
              <a:t>The increased epsilon rate allows the agent to increase in exploration rate (choosing random actions more often).</a:t>
            </a:r>
          </a:p>
          <a:p>
            <a:r>
              <a:rPr lang="en-US" dirty="0"/>
              <a:t>Inclusion of </a:t>
            </a:r>
            <a:r>
              <a:rPr lang="en-US" dirty="0" err="1"/>
              <a:t>epsilon_min</a:t>
            </a:r>
            <a:r>
              <a:rPr lang="en-US" dirty="0"/>
              <a:t> allows the agent to continue exploring after the decay preventing the agent from being overly greedy and missing out on potentially better strategies near end of training.</a:t>
            </a:r>
          </a:p>
        </p:txBody>
      </p:sp>
    </p:spTree>
    <p:extLst>
      <p:ext uri="{BB962C8B-B14F-4D97-AF65-F5344CB8AC3E}">
        <p14:creationId xmlns:p14="http://schemas.microsoft.com/office/powerpoint/2010/main" val="3455912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EE537B6-098D-494F-9A54-F22CD0977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7328FD4-8F4F-45D0-B179-C09F34FF8E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82" y="407588"/>
            <a:ext cx="5532146" cy="6066184"/>
          </a:xfrm>
          <a:prstGeom prst="rect">
            <a:avLst/>
          </a:prstGeom>
          <a:noFill/>
          <a:ln w="6350" cap="sq" cmpd="sng" algn="ctr">
            <a:solidFill>
              <a:srgbClr val="404040"/>
            </a:solidFill>
            <a:prstDash val="solid"/>
            <a:miter lim="800000"/>
          </a:ln>
          <a:effectLst/>
        </p:spPr>
        <p:txBody>
          <a:bodyPr/>
          <a:lstStyle/>
          <a:p>
            <a:endParaRPr lang="en-SG"/>
          </a:p>
        </p:txBody>
      </p:sp>
      <p:pic>
        <p:nvPicPr>
          <p:cNvPr id="4" name="Picture 3" descr="A graph showing a line and a red line&#10;&#10;Description automatically generated with medium confidence">
            <a:extLst>
              <a:ext uri="{FF2B5EF4-FFF2-40B4-BE49-F238E27FC236}">
                <a16:creationId xmlns:a16="http://schemas.microsoft.com/office/drawing/2014/main" id="{2FD554E7-93B1-8EAE-9241-77465AC0E80D}"/>
              </a:ext>
            </a:extLst>
          </p:cNvPr>
          <p:cNvPicPr>
            <a:picLocks noChangeAspect="1"/>
          </p:cNvPicPr>
          <p:nvPr/>
        </p:nvPicPr>
        <p:blipFill>
          <a:blip r:embed="rId2"/>
          <a:stretch>
            <a:fillRect/>
          </a:stretch>
        </p:blipFill>
        <p:spPr>
          <a:xfrm>
            <a:off x="882713" y="2170955"/>
            <a:ext cx="4572418" cy="2560554"/>
          </a:xfrm>
          <a:prstGeom prst="rect">
            <a:avLst/>
          </a:prstGeom>
        </p:spPr>
      </p:pic>
      <p:sp>
        <p:nvSpPr>
          <p:cNvPr id="18" name="Rectangle 17">
            <a:extLst>
              <a:ext uri="{FF2B5EF4-FFF2-40B4-BE49-F238E27FC236}">
                <a16:creationId xmlns:a16="http://schemas.microsoft.com/office/drawing/2014/main" id="{4D22A8B8-E29F-4EB2-95D4-3C24EF234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1EF9F5-BAA7-45A5-BD84-F3184FCED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6846137" y="727626"/>
            <a:ext cx="4602152" cy="1718225"/>
          </a:xfrm>
        </p:spPr>
        <p:txBody>
          <a:bodyPr>
            <a:normAutofit/>
          </a:bodyPr>
          <a:lstStyle/>
          <a:p>
            <a:r>
              <a:rPr lang="en-SG" dirty="0"/>
              <a:t>Tuned Model + Epsilon Decay (exponential)</a:t>
            </a:r>
          </a:p>
        </p:txBody>
      </p:sp>
      <p:sp>
        <p:nvSpPr>
          <p:cNvPr id="9" name="Content Placeholder 8">
            <a:extLst>
              <a:ext uri="{FF2B5EF4-FFF2-40B4-BE49-F238E27FC236}">
                <a16:creationId xmlns:a16="http://schemas.microsoft.com/office/drawing/2014/main" id="{19500EB9-E6AD-DA7A-13A7-C860CBA387AD}"/>
              </a:ext>
            </a:extLst>
          </p:cNvPr>
          <p:cNvSpPr>
            <a:spLocks noGrp="1"/>
          </p:cNvSpPr>
          <p:nvPr>
            <p:ph idx="1"/>
          </p:nvPr>
        </p:nvSpPr>
        <p:spPr>
          <a:xfrm>
            <a:off x="6846137" y="2538919"/>
            <a:ext cx="4602152" cy="3557805"/>
          </a:xfrm>
        </p:spPr>
        <p:txBody>
          <a:bodyPr>
            <a:normAutofit/>
          </a:bodyPr>
          <a:lstStyle/>
          <a:p>
            <a:pPr>
              <a:lnSpc>
                <a:spcPct val="110000"/>
              </a:lnSpc>
            </a:pPr>
            <a:r>
              <a:rPr lang="en-US" sz="1600" dirty="0"/>
              <a:t>We can see that the average rewards have become closer to zero which is ideal, meaning the rewards have been beneficial in the model’s learning.</a:t>
            </a:r>
          </a:p>
          <a:p>
            <a:pPr>
              <a:lnSpc>
                <a:spcPct val="110000"/>
              </a:lnSpc>
            </a:pPr>
            <a:r>
              <a:rPr lang="en-US" sz="1600" dirty="0"/>
              <a:t>We also observe that the graph is less sporadic and can improve while stabilizing at a steady pace.</a:t>
            </a:r>
          </a:p>
          <a:p>
            <a:pPr>
              <a:lnSpc>
                <a:spcPct val="110000"/>
              </a:lnSpc>
            </a:pPr>
            <a:r>
              <a:rPr lang="en-US" sz="1600" dirty="0"/>
              <a:t>We also notice the graph getting less stable near the end of 130 episodes, which is why we will stop at 15o episodes.</a:t>
            </a:r>
          </a:p>
        </p:txBody>
      </p:sp>
    </p:spTree>
    <p:extLst>
      <p:ext uri="{BB962C8B-B14F-4D97-AF65-F5344CB8AC3E}">
        <p14:creationId xmlns:p14="http://schemas.microsoft.com/office/powerpoint/2010/main" val="1437369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EE537B6-098D-494F-9A54-F22CD0977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7328FD4-8F4F-45D0-B179-C09F34FF8E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82" y="407588"/>
            <a:ext cx="5532146" cy="6066184"/>
          </a:xfrm>
          <a:prstGeom prst="rect">
            <a:avLst/>
          </a:prstGeom>
          <a:noFill/>
          <a:ln w="6350" cap="sq" cmpd="sng" algn="ctr">
            <a:solidFill>
              <a:srgbClr val="404040"/>
            </a:solidFill>
            <a:prstDash val="solid"/>
            <a:miter lim="800000"/>
          </a:ln>
          <a:effectLst/>
        </p:spPr>
        <p:txBody>
          <a:bodyPr/>
          <a:lstStyle/>
          <a:p>
            <a:endParaRPr lang="en-SG"/>
          </a:p>
        </p:txBody>
      </p:sp>
      <p:pic>
        <p:nvPicPr>
          <p:cNvPr id="5" name="Picture 4" descr="A graph with numbers and lines&#10;&#10;Description automatically generated">
            <a:extLst>
              <a:ext uri="{FF2B5EF4-FFF2-40B4-BE49-F238E27FC236}">
                <a16:creationId xmlns:a16="http://schemas.microsoft.com/office/drawing/2014/main" id="{66173F5F-6AC4-A9A5-A230-CCCFE69BBC98}"/>
              </a:ext>
            </a:extLst>
          </p:cNvPr>
          <p:cNvPicPr>
            <a:picLocks noChangeAspect="1"/>
          </p:cNvPicPr>
          <p:nvPr/>
        </p:nvPicPr>
        <p:blipFill>
          <a:blip r:embed="rId2"/>
          <a:stretch>
            <a:fillRect/>
          </a:stretch>
        </p:blipFill>
        <p:spPr>
          <a:xfrm>
            <a:off x="882713" y="1667989"/>
            <a:ext cx="4572418" cy="3566486"/>
          </a:xfrm>
          <a:prstGeom prst="rect">
            <a:avLst/>
          </a:prstGeom>
        </p:spPr>
      </p:pic>
      <p:sp>
        <p:nvSpPr>
          <p:cNvPr id="18" name="Rectangle 17">
            <a:extLst>
              <a:ext uri="{FF2B5EF4-FFF2-40B4-BE49-F238E27FC236}">
                <a16:creationId xmlns:a16="http://schemas.microsoft.com/office/drawing/2014/main" id="{4D22A8B8-E29F-4EB2-95D4-3C24EF234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1EF9F5-BAA7-45A5-BD84-F3184FCED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9BECB5-5A16-5045-7CEE-7B97D850707B}"/>
              </a:ext>
            </a:extLst>
          </p:cNvPr>
          <p:cNvSpPr>
            <a:spLocks noGrp="1"/>
          </p:cNvSpPr>
          <p:nvPr>
            <p:ph type="title"/>
          </p:nvPr>
        </p:nvSpPr>
        <p:spPr>
          <a:xfrm>
            <a:off x="6846137" y="727626"/>
            <a:ext cx="4602152" cy="1718225"/>
          </a:xfrm>
        </p:spPr>
        <p:txBody>
          <a:bodyPr>
            <a:normAutofit/>
          </a:bodyPr>
          <a:lstStyle/>
          <a:p>
            <a:r>
              <a:rPr lang="en-SG" dirty="0"/>
              <a:t>Evaluation of weights</a:t>
            </a:r>
          </a:p>
        </p:txBody>
      </p:sp>
      <p:sp>
        <p:nvSpPr>
          <p:cNvPr id="9" name="Content Placeholder 8">
            <a:extLst>
              <a:ext uri="{FF2B5EF4-FFF2-40B4-BE49-F238E27FC236}">
                <a16:creationId xmlns:a16="http://schemas.microsoft.com/office/drawing/2014/main" id="{19500EB9-E6AD-DA7A-13A7-C860CBA387AD}"/>
              </a:ext>
            </a:extLst>
          </p:cNvPr>
          <p:cNvSpPr>
            <a:spLocks noGrp="1"/>
          </p:cNvSpPr>
          <p:nvPr>
            <p:ph idx="1"/>
          </p:nvPr>
        </p:nvSpPr>
        <p:spPr>
          <a:xfrm>
            <a:off x="6846137" y="2538919"/>
            <a:ext cx="4602152" cy="3557805"/>
          </a:xfrm>
        </p:spPr>
        <p:txBody>
          <a:bodyPr>
            <a:normAutofit/>
          </a:bodyPr>
          <a:lstStyle/>
          <a:p>
            <a:r>
              <a:rPr lang="en-US" dirty="0"/>
              <a:t>We have saved the weights of each episode of our tuned model and selected the weight which is most stable and highest reward (weight 118)</a:t>
            </a:r>
          </a:p>
          <a:p>
            <a:r>
              <a:rPr lang="en-US" dirty="0"/>
              <a:t>After running the best weight 10 times, the plot shows that the results still vary and are not consistent.</a:t>
            </a:r>
          </a:p>
          <a:p>
            <a:r>
              <a:rPr lang="en-US" dirty="0"/>
              <a:t>This shows that the training itself has high variability due to the exploration strategy or even the environment itself.</a:t>
            </a:r>
          </a:p>
          <a:p>
            <a:r>
              <a:rPr lang="en-US" dirty="0"/>
              <a:t>There may also be other factors such as hyperparameter sensitivity.</a:t>
            </a:r>
          </a:p>
        </p:txBody>
      </p:sp>
    </p:spTree>
    <p:extLst>
      <p:ext uri="{BB962C8B-B14F-4D97-AF65-F5344CB8AC3E}">
        <p14:creationId xmlns:p14="http://schemas.microsoft.com/office/powerpoint/2010/main" val="665675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Sagona Extra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agona Book"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Override1.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AE2713E1-6312-427E-BFCB-C5A5DA301373}">
  <ds:schemaRefs>
    <ds:schemaRef ds:uri="http://schemas.microsoft.com/sharepoint/v3/contenttype/forms"/>
  </ds:schemaRefs>
</ds:datastoreItem>
</file>

<file path=customXml/itemProps2.xml><?xml version="1.0" encoding="utf-8"?>
<ds:datastoreItem xmlns:ds="http://schemas.openxmlformats.org/officeDocument/2006/customXml" ds:itemID="{50DB95DD-0319-4EE5-8C5C-9CEDF75E02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2F3B215-496E-4790-A364-7C1C46DEC77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{69DCB6B7-11BE-44F3-AE43-044087927055}tf78829772_win32</Template>
  <TotalTime>84</TotalTime>
  <Words>962</Words>
  <Application>Microsoft Office PowerPoint</Application>
  <PresentationFormat>Widescreen</PresentationFormat>
  <Paragraphs>60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Garamond</vt:lpstr>
      <vt:lpstr>Sagona Book</vt:lpstr>
      <vt:lpstr>Sagona ExtraLight</vt:lpstr>
      <vt:lpstr>SavonVTI</vt:lpstr>
      <vt:lpstr>Reinforcement learning (RL)</vt:lpstr>
      <vt:lpstr>Introduction to RL</vt:lpstr>
      <vt:lpstr>Objective for this assignment</vt:lpstr>
      <vt:lpstr>DQN: DEEP Q-NETWORK</vt:lpstr>
      <vt:lpstr>Initialising the Pendulum Environment</vt:lpstr>
      <vt:lpstr>Base Model</vt:lpstr>
      <vt:lpstr>Base Model: Rewards Plot</vt:lpstr>
      <vt:lpstr>Epsilon</vt:lpstr>
      <vt:lpstr>Epsilon Decay</vt:lpstr>
      <vt:lpstr>Epsilon Decay: Linear</vt:lpstr>
      <vt:lpstr>Epsilon Decay: Exponential</vt:lpstr>
      <vt:lpstr>Epsilon Decay Choice: Exponential</vt:lpstr>
      <vt:lpstr>Hyperparameter Tuning</vt:lpstr>
      <vt:lpstr>Actions to discretise the range of episodes (NActions)</vt:lpstr>
      <vt:lpstr>Parameters</vt:lpstr>
      <vt:lpstr>Tuned Model + Epsilon Decay (exponential)</vt:lpstr>
      <vt:lpstr>Evaluation of weights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 Kai</dc:creator>
  <cp:lastModifiedBy>Chan Kai</cp:lastModifiedBy>
  <cp:revision>1</cp:revision>
  <dcterms:created xsi:type="dcterms:W3CDTF">2024-08-04T21:25:42Z</dcterms:created>
  <dcterms:modified xsi:type="dcterms:W3CDTF">2024-08-04T23:10:27Z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